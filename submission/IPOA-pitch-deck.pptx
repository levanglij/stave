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0" cy="4023360"/>
          </a:xfrm>
          <a:prstGeom prst="line">
            <a:avLst/>
          </a:prstGeom>
          <a:noFill/>
          <a:ln w="12700">
            <a:solidFill>
              <a:srgbClr val="C89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18872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spc="1000" kern="0" dirty="0">
                <a:solidFill>
                  <a:srgbClr val="C89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IPOA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 infrastructure for music royalty finance.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3C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 Frontier Hackathon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4617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Levan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766560" y="1371600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F5F1E8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0" y="13716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RRE-AAA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95160" y="1874520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F5F1E8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95160" y="18745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RRE-AA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223760" y="2377440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F5F1E8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0" y="2377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RRE-A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52360" y="2880360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F5F1E8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2880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RRE-BBB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80960" y="3383280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F5F1E8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0" y="3383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RRE-BB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92240" y="40690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3C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rating language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E3C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give to music IP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$30B asset class with no pricing infrastructure.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$30B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global music royalties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bilaterally at 10–30× TTM, with no standardized risk methodology.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20116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4024" y="211226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57800" y="19933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standardized ratings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257800" y="22860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catalog priced from scratch. Capital can't compare across deals.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29260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302666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57800" y="29077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Opaque bilateral markets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257800" y="32004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negotiations, months to close, no secondary market.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663440" y="3840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024" y="394106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57800" y="38221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Fans locked out of upside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5257800" y="4114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streaming generation can listen, but can't own.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 is no Moody's, no Bloomberg, no MSCI for music.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Royalty streams are credit.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3C1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Predictable decay.  Diversifiable risk.  Financeable cashflow.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050F24"/>
          </a:solidFill>
          <a:ln w="9525">
            <a:solidFill>
              <a:srgbClr val="C89B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606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bonds · 1960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Bilateral, opaque pricing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ratings (AAA–C)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tranches (senior / mezz / equity)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liquid market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246888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050F24"/>
          </a:solidFill>
          <a:ln w="9525">
            <a:solidFill>
              <a:srgbClr val="C89B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2606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royalties · 2026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92040" y="292608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Bilateral, opaque pricing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standardized ratings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tranches, no index, no benchmarks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Fragmented, illiquid, slow to close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70916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3C1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Credit markets solved this 60 years ago. We're porting the playbook — on-chain, streaming-native.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IPOA 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layers, one asset class.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93192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4DED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E3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121408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116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On-chain layer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26974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Artists mint royalty shares on Solana. Fans and institutions buy. Everyone gets pro-rata payouts from a per-work vault.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35204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Metaplex Core IP-Work NFT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Token-2022 fungible share mint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Per-work royalty vault + pro-rata claim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828800"/>
            <a:ext cx="3931920" cy="2651760"/>
          </a:xfrm>
          <a:prstGeom prst="roundRect">
            <a:avLst>
              <a:gd name="adj" fmla="val 4138"/>
            </a:avLst>
          </a:prstGeom>
          <a:solidFill>
            <a:srgbClr val="0B1E3F"/>
          </a:solidFill>
          <a:ln w="9525">
            <a:solidFill>
              <a:srgbClr val="0B1E3F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92040" y="20116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C89B3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2121408"/>
            <a:ext cx="283464" cy="2834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32120" y="20116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Royalty Risk Engine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892040" y="26974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standardized 0–100 composite score and AAA–B tier, plus a recommended max senior LTV, for any catalog with royalty history.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892040" y="35204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5-layer deterministic pipeline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VaR₉₅ / CVaR₉₅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formulas, 31 tests green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48640" y="4663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Solana + Moody's, for music.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 ·  LIVE ON DEVNET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rated, fractional marketplace for music IP.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Georgian works listed end-to-end, each carrying its RRE rating, composite score and LTV.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572768" cy="242316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9525">
            <a:solidFill>
              <a:srgbClr val="E4DED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2075688"/>
            <a:ext cx="1353312" cy="1005840"/>
          </a:xfrm>
          <a:prstGeom prst="roundRect">
            <a:avLst>
              <a:gd name="adj" fmla="val 5455"/>
            </a:avLst>
          </a:prstGeom>
          <a:solidFill>
            <a:srgbClr val="7F1D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313639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Suliko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3383280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Hamlet Gonashvili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365760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65760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RRE-AA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" y="4023360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 $0.85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8368" y="417880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 70%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31136" y="1965960"/>
            <a:ext cx="1572768" cy="242316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9525">
            <a:solidFill>
              <a:srgbClr val="E4DED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340864" y="2075688"/>
            <a:ext cx="1353312" cy="1005840"/>
          </a:xfrm>
          <a:prstGeom prst="roundRect">
            <a:avLst>
              <a:gd name="adj" fmla="val 5455"/>
            </a:avLst>
          </a:prstGeom>
          <a:solidFill>
            <a:srgbClr val="1E3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40864" y="313639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Tbiliso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340864" y="3383280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Revaz Laghidze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340864" y="365760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40864" y="365760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RRE-BBB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40864" y="4023360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 $0.55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340864" y="417880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 50%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913632" y="1965960"/>
            <a:ext cx="1572768" cy="242316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9525">
            <a:solidFill>
              <a:srgbClr val="E4DED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023360" y="2075688"/>
            <a:ext cx="1353312" cy="1005840"/>
          </a:xfrm>
          <a:prstGeom prst="roundRect">
            <a:avLst>
              <a:gd name="adj" fmla="val 5455"/>
            </a:avLst>
          </a:prstGeom>
          <a:solidFill>
            <a:srgbClr val="831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0" y="313639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Nine Million Bicycles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023360" y="3383280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Katie Melua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023360" y="365760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0" y="365760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RRE-BBB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023360" y="4023360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 $0.35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023360" y="417880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 50%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596128" y="1965960"/>
            <a:ext cx="1572768" cy="242316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9525">
            <a:solidFill>
              <a:srgbClr val="E4DED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705856" y="2075688"/>
            <a:ext cx="1353312" cy="1005840"/>
          </a:xfrm>
          <a:prstGeom prst="roundRect">
            <a:avLst>
              <a:gd name="adj" fmla="val 5455"/>
            </a:avLst>
          </a:prstGeom>
          <a:solidFill>
            <a:srgbClr val="3F3F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05856" y="313639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Chito Gvrito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705856" y="3383280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Vakhtang Kikabidze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705856" y="365760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05856" y="365760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RRE-BB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705856" y="4023360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 $0.22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705856" y="417880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 30%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278624" y="1965960"/>
            <a:ext cx="1572768" cy="242316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9525">
            <a:solidFill>
              <a:srgbClr val="E4DED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388352" y="2075688"/>
            <a:ext cx="1353312" cy="1005840"/>
          </a:xfrm>
          <a:prstGeom prst="roundRect">
            <a:avLst>
              <a:gd name="adj" fmla="val 5455"/>
            </a:avLst>
          </a:prstGeom>
          <a:solidFill>
            <a:srgbClr val="0F7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88352" y="313639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Argasvene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388352" y="3383280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Mgzavrebi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388352" y="365760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88352" y="365760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RRE-B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388352" y="4023360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 $0.18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388352" y="417880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 0%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48640" y="46634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 →  List  →  Buy  →  Deposit  →  Claim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RATING ENGINE WORKS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Deterministic. Open. 31 tests green.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609344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4DED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874520"/>
            <a:ext cx="384048" cy="384048"/>
          </a:xfrm>
          <a:prstGeom prst="ellipse">
            <a:avLst/>
          </a:prstGeom>
          <a:solidFill>
            <a:srgbClr val="0B1E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9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Normalize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542032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USD revenue, per platform &amp; territory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 rot="5400000">
            <a:off x="2139696" y="2299716"/>
            <a:ext cx="109728" cy="109728"/>
          </a:xfrm>
          <a:prstGeom prst="rightTriangle">
            <a:avLst/>
          </a:prstGeom>
          <a:solidFill>
            <a:srgbClr val="C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31136" y="1737360"/>
            <a:ext cx="1609344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4DED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368296" y="1874520"/>
            <a:ext cx="384048" cy="384048"/>
          </a:xfrm>
          <a:prstGeom prst="ellipse">
            <a:avLst/>
          </a:prstGeom>
          <a:solidFill>
            <a:srgbClr val="0B1E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68296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9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368296" y="228600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Fit decay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368296" y="2542032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&amp; power-law; pick winner by AIC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 rot="5400000">
            <a:off x="3822192" y="2299716"/>
            <a:ext cx="109728" cy="109728"/>
          </a:xfrm>
          <a:prstGeom prst="rightTriangle">
            <a:avLst/>
          </a:prstGeom>
          <a:solidFill>
            <a:srgbClr val="C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13632" y="1737360"/>
            <a:ext cx="1609344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4DED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050792" y="1874520"/>
            <a:ext cx="384048" cy="384048"/>
          </a:xfrm>
          <a:prstGeom prst="ellipse">
            <a:avLst/>
          </a:prstGeom>
          <a:solidFill>
            <a:srgbClr val="0B1E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50792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9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050792" y="228600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 anomalies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050792" y="2542032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12-mo z-score, flag |z| &gt; 2.5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 rot="5400000">
            <a:off x="5504688" y="2299716"/>
            <a:ext cx="109728" cy="109728"/>
          </a:xfrm>
          <a:prstGeom prst="rightTriangle">
            <a:avLst/>
          </a:prstGeom>
          <a:solidFill>
            <a:srgbClr val="C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96128" y="1737360"/>
            <a:ext cx="1609344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4DED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733288" y="1874520"/>
            <a:ext cx="384048" cy="384048"/>
          </a:xfrm>
          <a:prstGeom prst="ellipse">
            <a:avLst/>
          </a:prstGeom>
          <a:solidFill>
            <a:srgbClr val="0B1E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33288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9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733288" y="228600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Concentration · VaR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733288" y="2542032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HHI + 1,000-sim Monte Carlo VaR₉₅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 rot="5400000">
            <a:off x="7187184" y="2299716"/>
            <a:ext cx="109728" cy="109728"/>
          </a:xfrm>
          <a:prstGeom prst="rightTriangle">
            <a:avLst/>
          </a:prstGeom>
          <a:solidFill>
            <a:srgbClr val="C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78624" y="1737360"/>
            <a:ext cx="1609344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4DED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415784" y="1874520"/>
            <a:ext cx="384048" cy="384048"/>
          </a:xfrm>
          <a:prstGeom prst="ellipse">
            <a:avLst/>
          </a:prstGeom>
          <a:solidFill>
            <a:srgbClr val="0B1E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15784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9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415784" y="228600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Assemble rating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415784" y="2542032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composite → tier + senior LTV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864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weighting — composite is a single 0–100 score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3520440"/>
            <a:ext cx="2414016" cy="502920"/>
          </a:xfrm>
          <a:prstGeom prst="rect">
            <a:avLst/>
          </a:prstGeom>
          <a:solidFill>
            <a:srgbClr val="1D4E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520440"/>
            <a:ext cx="2414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4041648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962656" y="3520440"/>
            <a:ext cx="1609344" cy="502920"/>
          </a:xfrm>
          <a:prstGeom prst="rect">
            <a:avLst/>
          </a:prstGeom>
          <a:solidFill>
            <a:srgbClr val="6D2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62656" y="3520440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962656" y="4041648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0" y="3520440"/>
            <a:ext cx="1609344" cy="502920"/>
          </a:xfrm>
          <a:prstGeom prst="rect">
            <a:avLst/>
          </a:prstGeom>
          <a:solidFill>
            <a:srgbClr val="1580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0" y="3520440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72000" y="4041648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181344" y="3520440"/>
            <a:ext cx="1207008" cy="502920"/>
          </a:xfrm>
          <a:prstGeom prst="rect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81344" y="352044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181344" y="404164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388352" y="3520440"/>
            <a:ext cx="1207008" cy="502920"/>
          </a:xfrm>
          <a:prstGeom prst="rect">
            <a:avLst/>
          </a:prstGeom>
          <a:solidFill>
            <a:srgbClr val="BE18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88352" y="352044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388352" y="404164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48640" y="46634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· formulas in engine/FORMULAS.md · 5 catalogs rated end-to-end (RRE-AA → RRE-B)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PRIMITIVE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first credit-rated music indices.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RRE methodology, weighted across baskets. Investable as a single unit. Auto-composable with the underlying shares.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901952" cy="256032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E4DED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2167128"/>
            <a:ext cx="731520" cy="457200"/>
          </a:xfrm>
          <a:prstGeom prst="roundRect">
            <a:avLst>
              <a:gd name="adj" fmla="val 16000"/>
            </a:avLst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16712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490472" y="224028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90472" y="224028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RRE-A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274320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Georgian Heritage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" y="300837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· classical · traditional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13232" y="3355848"/>
            <a:ext cx="1572768" cy="0"/>
          </a:xfrm>
          <a:prstGeom prst="line">
            <a:avLst/>
          </a:prstGeom>
          <a:noFill/>
          <a:ln w="6350">
            <a:solidFill>
              <a:srgbClr val="E4DE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44728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/ unit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13232" y="3648456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$61.90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13232" y="406908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 73.5  /  100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87752" y="1965960"/>
            <a:ext cx="1901952" cy="256032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E4DED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52344" y="2167128"/>
            <a:ext cx="731520" cy="457200"/>
          </a:xfrm>
          <a:prstGeom prst="roundRect">
            <a:avLst>
              <a:gd name="adj" fmla="val 16000"/>
            </a:avLst>
          </a:prstGeom>
          <a:solidFill>
            <a:srgbClr val="BE18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52344" y="216712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529584" y="224028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9584" y="224028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RRE-BB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52344" y="274320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Georgian Modern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52344" y="300837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Post-2000 contemporary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52344" y="3355848"/>
            <a:ext cx="1572768" cy="0"/>
          </a:xfrm>
          <a:prstGeom prst="line">
            <a:avLst/>
          </a:prstGeom>
          <a:noFill/>
          <a:ln w="6350">
            <a:solidFill>
              <a:srgbClr val="E4DE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52344" y="344728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/ unit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52344" y="3648456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$28.20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752344" y="406908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 52.9  /  100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26864" y="1965960"/>
            <a:ext cx="1901952" cy="256032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E4DED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91456" y="2167128"/>
            <a:ext cx="731520" cy="457200"/>
          </a:xfrm>
          <a:prstGeom prst="roundRect">
            <a:avLst>
              <a:gd name="adj" fmla="val 16000"/>
            </a:avLst>
          </a:prstGeom>
          <a:solidFill>
            <a:srgbClr val="1580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91456" y="216712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GBC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68696" y="224028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68696" y="224028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RRE-A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91456" y="274320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Georgian Blue Chip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791456" y="300837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grade only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91456" y="3355848"/>
            <a:ext cx="1572768" cy="0"/>
          </a:xfrm>
          <a:prstGeom prst="line">
            <a:avLst/>
          </a:prstGeom>
          <a:noFill/>
          <a:ln w="6350">
            <a:solidFill>
              <a:srgbClr val="E4DE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91456" y="344728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/ unit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91456" y="3648456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$62.00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4791456" y="406908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 73.5  /  100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665976" y="1965960"/>
            <a:ext cx="1901952" cy="256032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E4DED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830568" y="2167128"/>
            <a:ext cx="731520" cy="457200"/>
          </a:xfrm>
          <a:prstGeom prst="roundRect">
            <a:avLst>
              <a:gd name="adj" fmla="val 16000"/>
            </a:avLst>
          </a:prstGeom>
          <a:solidFill>
            <a:srgbClr val="1D4E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30568" y="216712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607808" y="224028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07808" y="224028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RRE-BBB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830568" y="274320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Georgian All-Catalog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830568" y="300837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Equal-weighted benchmark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830568" y="3355848"/>
            <a:ext cx="1572768" cy="0"/>
          </a:xfrm>
          <a:prstGeom prst="line">
            <a:avLst/>
          </a:prstGeom>
          <a:noFill/>
          <a:ln w="6350">
            <a:solidFill>
              <a:srgbClr val="E4DED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30568" y="344728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/ unit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830568" y="3648456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$43.00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6830568" y="406908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 62.2  /  100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48640" y="47091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rating methodology, weighted  ·  Composable with underlying shares  ·  Built for institutional allocation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Streaming-era primitives, not a wrapper.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3716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0B1E3F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057400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514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IP-Work NFT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788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Metaplex Core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965960" y="2491740"/>
            <a:ext cx="118872" cy="0"/>
          </a:xfrm>
          <a:prstGeom prst="line">
            <a:avLst/>
          </a:prstGeom>
          <a:noFill/>
          <a:ln w="19050">
            <a:solidFill>
              <a:srgbClr val="C89B3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rot="5400000">
            <a:off x="2093976" y="2436876"/>
            <a:ext cx="109728" cy="109728"/>
          </a:xfrm>
          <a:prstGeom prst="rightTriangle">
            <a:avLst/>
          </a:prstGeom>
          <a:solidFill>
            <a:srgbClr val="C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240280" y="1874520"/>
            <a:ext cx="13716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0B1E3F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912" y="2057400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240280" y="2514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 mint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240280" y="2788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Token-2022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657600" y="2491740"/>
            <a:ext cx="118872" cy="0"/>
          </a:xfrm>
          <a:prstGeom prst="line">
            <a:avLst/>
          </a:prstGeom>
          <a:noFill/>
          <a:ln w="19050">
            <a:solidFill>
              <a:srgbClr val="C89B3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 rot="5400000">
            <a:off x="3785616" y="2436876"/>
            <a:ext cx="109728" cy="109728"/>
          </a:xfrm>
          <a:prstGeom prst="rightTriangle">
            <a:avLst/>
          </a:prstGeom>
          <a:solidFill>
            <a:srgbClr val="C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931920" y="1874520"/>
            <a:ext cx="13716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0B1E3F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552" y="2057400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931920" y="2514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Royalty vault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3931920" y="2788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Per-work PDA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5349240" y="2491740"/>
            <a:ext cx="118872" cy="0"/>
          </a:xfrm>
          <a:prstGeom prst="line">
            <a:avLst/>
          </a:prstGeom>
          <a:noFill/>
          <a:ln w="19050">
            <a:solidFill>
              <a:srgbClr val="C89B3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 rot="5400000">
            <a:off x="5477256" y="2436876"/>
            <a:ext cx="109728" cy="109728"/>
          </a:xfrm>
          <a:prstGeom prst="rightTriangle">
            <a:avLst/>
          </a:prstGeom>
          <a:solidFill>
            <a:srgbClr val="C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623560" y="1874520"/>
            <a:ext cx="13716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0B1E3F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2057400"/>
            <a:ext cx="402336" cy="40233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623560" y="2514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Pro-rata claim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623560" y="2788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program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548640" y="3291840"/>
            <a:ext cx="2679192" cy="1051560"/>
          </a:xfrm>
          <a:prstGeom prst="roundRect">
            <a:avLst>
              <a:gd name="adj" fmla="val 8696"/>
            </a:avLst>
          </a:prstGeom>
          <a:solidFill>
            <a:srgbClr val="0B1E3F"/>
          </a:solidFill>
          <a:ln w="9525">
            <a:solidFill>
              <a:srgbClr val="0B1E3F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731520" y="3456432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Sub-cent fees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731520" y="3767328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Royalty micro-payouts are viable on Solana. Credit rails can't do that.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3346704" y="3291840"/>
            <a:ext cx="2679192" cy="1051560"/>
          </a:xfrm>
          <a:prstGeom prst="roundRect">
            <a:avLst>
              <a:gd name="adj" fmla="val 8696"/>
            </a:avLst>
          </a:prstGeom>
          <a:solidFill>
            <a:srgbClr val="0B1E3F"/>
          </a:solidFill>
          <a:ln w="9525">
            <a:solidFill>
              <a:srgbClr val="0B1E3F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30" name="Text 24"/>
          <p:cNvSpPr/>
          <p:nvPr/>
        </p:nvSpPr>
        <p:spPr>
          <a:xfrm>
            <a:off x="3529584" y="3456432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Token-2022 shares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3529584" y="3767328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fungibles — day-one DEX, lending, and fund composability.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6144768" y="3291840"/>
            <a:ext cx="2679192" cy="1051560"/>
          </a:xfrm>
          <a:prstGeom prst="roundRect">
            <a:avLst>
              <a:gd name="adj" fmla="val 8696"/>
            </a:avLst>
          </a:prstGeom>
          <a:solidFill>
            <a:srgbClr val="0B1E3F"/>
          </a:solidFill>
          <a:ln w="9525">
            <a:solidFill>
              <a:srgbClr val="0B1E3F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33" name="Text 27"/>
          <p:cNvSpPr/>
          <p:nvPr/>
        </p:nvSpPr>
        <p:spPr>
          <a:xfrm>
            <a:off x="6327648" y="3456432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Wallet UX at scale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6327648" y="3767328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Solana wallet UX reaches the non-crypto artist.</a:t>
            </a:r>
            <a:endParaRPr lang="en-US" sz="1050" dirty="0"/>
          </a:p>
        </p:txBody>
      </p:sp>
      <p:sp>
        <p:nvSpPr>
          <p:cNvPr id="35" name="Text 29"/>
          <p:cNvSpPr/>
          <p:nvPr/>
        </p:nvSpPr>
        <p:spPr>
          <a:xfrm>
            <a:off x="548640" y="46634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on the native Solana stack — not bridged, not wrapped.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/ 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  ·  GO-TO-MARKET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moat is data, not code.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931920" cy="2743200"/>
          </a:xfrm>
          <a:prstGeom prst="roundRect">
            <a:avLst>
              <a:gd name="adj" fmla="val 4000"/>
            </a:avLst>
          </a:prstGeom>
          <a:solidFill>
            <a:srgbClr val="0B1E3F"/>
          </a:solidFill>
          <a:ln w="9525">
            <a:solidFill>
              <a:srgbClr val="0B1E3F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C89B3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121408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116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 ownership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26974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royalty data at the source — not scraped, not aggregated from DSP APIs.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33832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Cross-validates every minting submission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calibrate on real settlement data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PRO affiliation deepens the moat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replicated by pure-tech competitors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754880" y="1828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 ·  four-phase rollout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54880" y="2194560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C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0" y="21945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687568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artists via Solana-native communities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54880" y="2798064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C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54880" y="279806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687568" y="279806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Indie labels + collectives on the SRFP marketplace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54880" y="3401568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C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54880" y="340156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687568" y="34015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Aggregator partnerships; first royalty portfolio fund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754880" y="4005072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C89B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54880" y="400507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687568" y="40050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ABS, index products, derivatives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48640" y="47091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B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today: origination (1.5–3%) · servicing (0.5–1% annual) · analytics · secondary fees.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/ 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0" cy="4023360"/>
          </a:xfrm>
          <a:prstGeom prst="line">
            <a:avLst/>
          </a:prstGeom>
          <a:noFill/>
          <a:ln w="12700">
            <a:solidFill>
              <a:srgbClr val="C89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SHIPPED  ·  WHAT'S NEXT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Built. Rated. Ready.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31136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21945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program deployed to Solana devnet</a:t>
            </a:r>
            <a:endParaRPr lang="en-US" sz="11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578608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5420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flow working: create → list → buy → deposit → claim</a:t>
            </a:r>
            <a:endParaRPr lang="en-US" sz="11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26080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288950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 engine — 5 layers, 31 tests green</a:t>
            </a:r>
            <a:endParaRPr lang="en-US" sz="11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273552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97280" y="323697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Georgian catalogs rated RRE-AA through RRE-B</a:t>
            </a:r>
            <a:endParaRPr lang="en-US" sz="11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621024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97280" y="35844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thematic indices — first credit-rated music baskets</a:t>
            </a:r>
            <a:endParaRPr lang="en-US" sz="11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968496"/>
            <a:ext cx="201168" cy="20116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097280" y="39319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Next.js demo on Vercel</a:t>
            </a:r>
            <a:endParaRPr lang="en-US" sz="1150" dirty="0"/>
          </a:p>
        </p:txBody>
      </p:sp>
      <p:sp>
        <p:nvSpPr>
          <p:cNvPr id="18" name="Text 10"/>
          <p:cNvSpPr/>
          <p:nvPr/>
        </p:nvSpPr>
        <p:spPr>
          <a:xfrm>
            <a:off x="4937760" y="1828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4937760" y="223113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50F24"/>
          </a:solidFill>
          <a:ln w="9525">
            <a:solidFill>
              <a:srgbClr val="C89B3C"/>
            </a:solidFill>
            <a:prstDash val="solid"/>
          </a:ln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8344" y="2331720"/>
            <a:ext cx="256032" cy="256032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532120" y="21762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Colosseum accelerator</a:t>
            </a:r>
            <a:endParaRPr lang="en-US" sz="1400" dirty="0"/>
          </a:p>
        </p:txBody>
      </p:sp>
      <p:sp>
        <p:nvSpPr>
          <p:cNvPr id="22" name="Text 13"/>
          <p:cNvSpPr/>
          <p:nvPr/>
        </p:nvSpPr>
        <p:spPr>
          <a:xfrm>
            <a:off x="5532120" y="245059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+ program runway to reach production.</a:t>
            </a:r>
            <a:endParaRPr lang="en-US" sz="1050" dirty="0"/>
          </a:p>
        </p:txBody>
      </p:sp>
      <p:sp>
        <p:nvSpPr>
          <p:cNvPr id="23" name="Shape 14"/>
          <p:cNvSpPr/>
          <p:nvPr/>
        </p:nvSpPr>
        <p:spPr>
          <a:xfrm>
            <a:off x="4937760" y="30083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50F24"/>
          </a:solidFill>
          <a:ln w="9525">
            <a:solidFill>
              <a:srgbClr val="C89B3C"/>
            </a:solidFill>
            <a:prstDash val="solid"/>
          </a:ln>
        </p:spPr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38344" y="3108960"/>
            <a:ext cx="256032" cy="256032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532120" y="29535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catalogs</a:t>
            </a:r>
            <a:endParaRPr lang="en-US" sz="1400" dirty="0"/>
          </a:p>
        </p:txBody>
      </p:sp>
      <p:sp>
        <p:nvSpPr>
          <p:cNvPr id="26" name="Text 16"/>
          <p:cNvSpPr/>
          <p:nvPr/>
        </p:nvSpPr>
        <p:spPr>
          <a:xfrm>
            <a:off x="5532120" y="322783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with 10–50 works ready to be minted and rated.</a:t>
            </a:r>
            <a:endParaRPr lang="en-US" sz="1050" dirty="0"/>
          </a:p>
        </p:txBody>
      </p:sp>
      <p:sp>
        <p:nvSpPr>
          <p:cNvPr id="27" name="Shape 17"/>
          <p:cNvSpPr/>
          <p:nvPr/>
        </p:nvSpPr>
        <p:spPr>
          <a:xfrm>
            <a:off x="4937760" y="378561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50F24"/>
          </a:solidFill>
          <a:ln w="9525">
            <a:solidFill>
              <a:srgbClr val="C89B3C"/>
            </a:solidFill>
            <a:prstDash val="solid"/>
          </a:ln>
        </p:spPr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8344" y="3886200"/>
            <a:ext cx="256032" cy="256032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532120" y="3730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Institutional conversations</a:t>
            </a:r>
            <a:endParaRPr lang="en-US" sz="1400" dirty="0"/>
          </a:p>
        </p:txBody>
      </p:sp>
      <p:sp>
        <p:nvSpPr>
          <p:cNvPr id="30" name="Text 19"/>
          <p:cNvSpPr/>
          <p:nvPr/>
        </p:nvSpPr>
        <p:spPr>
          <a:xfrm>
            <a:off x="5532120" y="400507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Allocators sizing music IP as a portfolio asset class.</a:t>
            </a:r>
            <a:endParaRPr lang="en-US" sz="1050" dirty="0"/>
          </a:p>
        </p:txBody>
      </p:sp>
      <p:sp>
        <p:nvSpPr>
          <p:cNvPr id="31" name="Text 20"/>
          <p:cNvSpPr/>
          <p:nvPr/>
        </p:nvSpPr>
        <p:spPr>
          <a:xfrm>
            <a:off x="822960" y="4663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3C1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IPOA — pricing infrastructure for music royalty finance.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IPOA — Pricing infrastructure for music royalty finance</dc:title>
  <dc:subject>PptxGenJS Presentation</dc:subject>
  <dc:creator>Levan</dc:creator>
  <cp:lastModifiedBy>Levan</cp:lastModifiedBy>
  <cp:revision>1</cp:revision>
  <dcterms:created xsi:type="dcterms:W3CDTF">2026-04-23T10:40:34Z</dcterms:created>
  <dcterms:modified xsi:type="dcterms:W3CDTF">2026-04-23T10:40:34Z</dcterms:modified>
</cp:coreProperties>
</file>