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image" Target="../media/image-2-1.png"/>
  <Relationship Id="rId2" Type="http://schemas.openxmlformats.org/officeDocument/2006/relationships/image" Target="../media/image-2-2.png"/>
  <Relationship Id="rId3" Type="http://schemas.openxmlformats.org/officeDocument/2006/relationships/image" Target="../media/image-2-3.png"/>
  <Relationship Id="rId4" Type="http://schemas.openxmlformats.org/officeDocument/2006/relationships/slideLayout" Target="../slideLayouts/slideLayout1.xml"/>
  <Relationship Id="rId5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image" Target="../media/image-4-1.png"/>
  <Relationship Id="rId2" Type="http://schemas.openxmlformats.org/officeDocument/2006/relationships/image" Target="../media/image-4-2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image" Target="../media/image-8-1.png"/>
  <Relationship Id="rId2" Type="http://schemas.openxmlformats.org/officeDocument/2006/relationships/image" Target="../media/image-8-2.png"/>
  <Relationship Id="rId3" Type="http://schemas.openxmlformats.org/officeDocument/2006/relationships/image" Target="../media/image-8-3.png"/>
  <Relationship Id="rId4" Type="http://schemas.openxmlformats.org/officeDocument/2006/relationships/image" Target="../media/image-8-4.png"/>
  <Relationship Id="rId5" Type="http://schemas.openxmlformats.org/officeDocument/2006/relationships/slideLayout" Target="../slideLayouts/slideLayout1.xml"/>
  <Relationship Id="rId6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image" Target="../media/image-9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image" Target="../media/image-10-1.png"/>
  <Relationship Id="rId2" Type="http://schemas.openxmlformats.org/officeDocument/2006/relationships/image" Target="../media/image-10-2.png"/>
  <Relationship Id="rId3" Type="http://schemas.openxmlformats.org/officeDocument/2006/relationships/image" Target="../media/image-10-3.png"/>
  <Relationship Id="rId4" Type="http://schemas.openxmlformats.org/officeDocument/2006/relationships/image" Target="../media/image-10-4.png"/>
  <Relationship Id="rId5" Type="http://schemas.openxmlformats.org/officeDocument/2006/relationships/image" Target="../media/image-10-5.png"/>
  <Relationship Id="rId6" Type="http://schemas.openxmlformats.org/officeDocument/2006/relationships/image" Target="../media/image-10-6.png"/>
  <Relationship Id="rId7" Type="http://schemas.openxmlformats.org/officeDocument/2006/relationships/image" Target="../media/image-10-7.png"/>
  <Relationship Id="rId8" Type="http://schemas.openxmlformats.org/officeDocument/2006/relationships/image" Target="../media/image-10-8.png"/>
  <Relationship Id="rId9" Type="http://schemas.openxmlformats.org/officeDocument/2006/relationships/image" Target="../media/image-10-9.png"/>
  <Relationship Id="rId10" Type="http://schemas.openxmlformats.org/officeDocument/2006/relationships/slideLayout" Target="../slideLayouts/slideLayout1.xml"/>
  <Relationship Id="rId11" Type="http://schemas.openxmlformats.org/officeDocument/2006/relationships/notesSlide" Target="../notesSlides/notesSlide10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0" cy="4023360"/>
          </a:xfrm>
          <a:prstGeom prst="line">
            <a:avLst/>
          </a:prstGeom>
          <a:noFill/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000" kern="0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Stave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infrastructure for music royalty finance.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Frontier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Levan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18745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2377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288036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3832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to music 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$30B asset class with no pricing infrastructure.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$30B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music royalties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bilaterally at 10–30× TTM, with no standardized risk methodology.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024" y="21122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standardized ratings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 priced from scratch. Capital can't compare across deals.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bilateral markets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25780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negotiations, months to close, no secondary market.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9410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Fans locked out of upside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578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streaming generation can listen, but can't own.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Moody's, no Bloomberg, no MSCI for music.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streams are credit.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Predictable decay.  Diversifiable risk.  Financeable cashflow.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bonds · 1960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opaque pricing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ratings (AAA–C)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tranches (senior / mezz / equity)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liquid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468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royalties ·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opaque pricing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ratings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tranches, no index, no benchmarks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illiquid, slow to close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markets solved this 60 years ago. We're porting the playbook — on-chain, streaming-native.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STAVE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layers, one asset class.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mint royalty shares on Solana. Fans and institutions buy. Everyone gets pro-rata payouts from a per-work vault.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Core IP-Work NFT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Token-2022 fungible share mint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 royalty vault + pro-rata claim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12140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Stave Risk Engine · IPOA data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920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0–100 composite score and AAA–B tier, plus a recommended max senior LTV, for any catalog with royalty history.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deterministic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VaR₉₅ / CVaR₉₅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formulas, 31 tests green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 + Moody's, for music.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·  LIVE ON DEVNET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rated, fractional marketplace for music IP.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Georgian works listed end-to-end, each carrying its RRE rating, composite score and LTV.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7F1D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Suliko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Hamlet Gonashvili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$0.85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70%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31136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40864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Tbiliso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40864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Revaz Laghidze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40864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40864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$0.55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40864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50%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13632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831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Million Bicycles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Katie Melua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50%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96128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05856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Chito Gvrito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05856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Vakhtang Kikabidze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05856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05856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05856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78624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88352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Argasvene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88352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Mgzavrebi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88352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88352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88352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0%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→  List  →  Buy  →  Deposit  →  Claim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RATING ENGINE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Deterministic. Open. 31 tests green.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USD revenue, per platform &amp; territory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2139696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1136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68296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68296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decay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68296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&amp; power-law; pick winner by AIC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822192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3632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50792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0792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anomalies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50792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 z-score, flag |z| &gt; 2.5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5504688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33288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32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33288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 · VaR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33288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+ 1,000-sim Monte Carlo VaR₉₅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87184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15784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15784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Assemble rating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15784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→ tier + senior LTV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weighting — composite is a single 0–100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20440"/>
            <a:ext cx="2414016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5204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0416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62656" y="3520440"/>
            <a:ext cx="160934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352044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62656" y="40416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3520440"/>
            <a:ext cx="160934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52044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40416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81344" y="3520440"/>
            <a:ext cx="1207008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35204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40416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88352" y="3520440"/>
            <a:ext cx="1207008" cy="502920"/>
          </a:xfrm>
          <a:prstGeom prst="rect">
            <a:avLst/>
          </a:prstGeom>
          <a:solidFill>
            <a:srgbClr val="BE1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35204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88352" y="40416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formulas in engine/FORMULAS.md · 5 catalogs rated end-to-end (RRE-AA → RRE-B)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PRIMITIVE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credit-rated music indices.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RRE methodology, weighted across baskets. Investable as a single unit. Auto-composable with the underlying shares.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90472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0472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Heritage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· classical · traditional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$61.90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73.5  /  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87752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52344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BE1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9584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52344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Modern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52344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Post-2000 contemporary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52344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52344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$28.20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52344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52.9  /  100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91456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68696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91456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Blue Chip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91456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grade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91456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1456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$62.00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91456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73.5  /  100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65976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30568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07808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All-Catalog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30568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benchmark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0568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30568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$43.00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830568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62.2  /  100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rating methodology, weighted  ·  Composable with underlying shares  ·  Built for institutional allocation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Streaming-era primitives, not a wrapper.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574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IP-Work NFT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Core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6596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5400000">
            <a:off x="209397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4028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0574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mint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4028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Token-2022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rot="5400000">
            <a:off x="378561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93192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0574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vault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9319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 PDA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34924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rot="5400000">
            <a:off x="547725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2356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05740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Pro-rata claim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2356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48640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31520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Sub-cent fees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31520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micro-payouts are viable on Solana. Credit rails can't do that.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46704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529584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Token-2022 shares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529584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fungibles — day-one DEX, lending, and fund composability.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144768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327648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UX at scale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327648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Solana wallet UX reaches the non-crypto artist.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native Solana stack — not bridged, not wrapped.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 ·  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data, not code.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IPOA partnership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IPOA, Georgia's traditional music rights organisation, gives Stave verified ownership and royalty data at the source. Not crypto, not scraped, not aggregated from DSP APIs.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every minting submission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calibrate on real settlement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 affiliation deepens the moat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replicated by pure-tech competitors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 ·  four-phase rollout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19456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87568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artists via Solana-native communities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79806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798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87568" y="2798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labels + collectives on the SRFP marketplace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40156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87568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partnerships; first royalty portfolio fund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00507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005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87568" y="4005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ABS, index products, derivatives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today: origination (1.5–3%) · servicing (0.5–1% annual) · analytics · secondary fees.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0" cy="4023360"/>
          </a:xfrm>
          <a:prstGeom prst="line">
            <a:avLst/>
          </a:prstGeom>
          <a:noFill/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SHIPPED  ·  WHAT'S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Rated. Ready.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3113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 deployed to Solana devnet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786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working: create → list → buy → deposit → claim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 engine — 5 layers, 31 tests green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735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36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Georgian catalogs rated RRE-AA through RRE-B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2102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thematic indices — first credit-rated music baskets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68496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Next.js demo on Vercel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49377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4937760" y="2231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2331720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Colosseum accelerator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553212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+ program runway to reach production.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937760" y="3008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310896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3212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catalogs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532120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with 10–50 works ready to be minted and rated.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4937760" y="37856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8344" y="388620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53212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conversations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5532120" y="4005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Allocators sizing music IP as a portfolio asset class.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82296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Stave - pricing infrastructure for music royalty finance.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IPOA — Pricing infrastructure for music royalty finance</dc:title>
  <dc:subject>PptxGenJS Presentation</dc:subject>
  <dc:creator>Levan</dc:creator>
  <cp:lastModifiedBy>Levan</cp:lastModifiedBy>
  <cp:revision>1</cp:revision>
  <dcterms:created xsi:type="dcterms:W3CDTF">2026-04-23T10:40:34Z</dcterms:created>
  <dcterms:modified xsi:type="dcterms:W3CDTF">2026-04-23T10:40:34Z</dcterms:modified>
</cp:coreProperties>
</file>